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2" r:id="rId4"/>
    <p:sldId id="257" r:id="rId5"/>
    <p:sldId id="258" r:id="rId6"/>
    <p:sldId id="260" r:id="rId7"/>
    <p:sldId id="259" r:id="rId8"/>
    <p:sldId id="264" r:id="rId9"/>
  </p:sldIdLst>
  <p:sldSz cx="9144000" cy="5143500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3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202729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12700">
              <a:lnSpc>
                <a:spcPts val="1555"/>
              </a:lnSpc>
            </a:pPr>
            <a:r>
              <a:rPr spc="-25" dirty="0"/>
              <a:t>@AI.with.Hassan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202729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12700">
              <a:lnSpc>
                <a:spcPts val="1555"/>
              </a:lnSpc>
            </a:pPr>
            <a:r>
              <a:rPr spc="-25" dirty="0"/>
              <a:t>@AI.with.Hassan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4725" y="1067410"/>
            <a:ext cx="3514725" cy="272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 u="heavy">
                <a:solidFill>
                  <a:srgbClr val="202729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12700">
              <a:lnSpc>
                <a:spcPts val="1555"/>
              </a:lnSpc>
            </a:pPr>
            <a:r>
              <a:rPr spc="-25" dirty="0"/>
              <a:t>@AI.with.Hassan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12700">
              <a:lnSpc>
                <a:spcPts val="1555"/>
              </a:lnSpc>
            </a:pPr>
            <a:r>
              <a:rPr spc="-25" dirty="0"/>
              <a:t>@AI.with.Hassan</a:t>
            </a:r>
            <a:endParaRPr spc="-2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12700">
              <a:lnSpc>
                <a:spcPts val="1555"/>
              </a:lnSpc>
            </a:pPr>
            <a:r>
              <a:rPr spc="-25" dirty="0"/>
              <a:t>@AI.with.Hassan</a:t>
            </a:r>
            <a:endParaRPr spc="-2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555"/>
              </a:lnSpc>
            </a:pPr>
            <a:r>
              <a:rPr spc="-25" dirty="0"/>
              <a:t>@AI.with.Hassan</a:t>
            </a:r>
            <a:endParaRPr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3474" y="1587587"/>
            <a:ext cx="7795259" cy="1173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0621" y="1180796"/>
            <a:ext cx="5269230" cy="308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202729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3474" y="4749379"/>
            <a:ext cx="1205864" cy="22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12700">
              <a:lnSpc>
                <a:spcPts val="1555"/>
              </a:lnSpc>
            </a:pPr>
            <a:r>
              <a:rPr spc="-25" dirty="0"/>
              <a:t>@AI.with.Hassan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jpe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2.png"/><Relationship Id="rId10" Type="http://schemas.openxmlformats.org/officeDocument/2006/relationships/image" Target="../media/image11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299814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3999" y="0"/>
                </a:lnTo>
              </a:path>
            </a:pathLst>
          </a:custGeom>
          <a:ln w="19049">
            <a:solidFill>
              <a:srgbClr val="63D1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3474" y="1587587"/>
            <a:ext cx="7795259" cy="1170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AI</a:t>
            </a:r>
            <a:r>
              <a:rPr spc="-280" dirty="0"/>
              <a:t> </a:t>
            </a:r>
            <a:r>
              <a:rPr spc="-10" dirty="0"/>
              <a:t>Mental</a:t>
            </a:r>
            <a:r>
              <a:rPr spc="-280" dirty="0"/>
              <a:t> </a:t>
            </a:r>
            <a:r>
              <a:rPr spc="-70" dirty="0"/>
              <a:t>Health</a:t>
            </a:r>
            <a:r>
              <a:rPr spc="-275" dirty="0"/>
              <a:t> </a:t>
            </a:r>
            <a:r>
              <a:rPr spc="-80" dirty="0"/>
              <a:t>Therapist</a:t>
            </a:r>
            <a:endParaRPr spc="-80" dirty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400" i="1" spc="-114" dirty="0">
                <a:latin typeface="Trebuchet MS" panose="020B0603020202020204"/>
                <a:cs typeface="Trebuchet MS" panose="020B0603020202020204"/>
              </a:rPr>
              <a:t>By Abdullah Imran</a:t>
            </a:r>
            <a:endParaRPr lang="en-US" sz="24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258108" y="3120140"/>
            <a:ext cx="1612925" cy="75902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33309" y="3906352"/>
            <a:ext cx="2679065" cy="419100"/>
          </a:xfrm>
          <a:custGeom>
            <a:avLst/>
            <a:gdLst/>
            <a:ahLst/>
            <a:cxnLst/>
            <a:rect l="l" t="t" r="r" b="b"/>
            <a:pathLst>
              <a:path w="2679065" h="419100">
                <a:moveTo>
                  <a:pt x="2678441" y="419082"/>
                </a:moveTo>
                <a:lnTo>
                  <a:pt x="0" y="419082"/>
                </a:lnTo>
                <a:lnTo>
                  <a:pt x="0" y="0"/>
                </a:lnTo>
                <a:lnTo>
                  <a:pt x="2678441" y="0"/>
                </a:lnTo>
                <a:lnTo>
                  <a:pt x="2678441" y="419082"/>
                </a:lnTo>
                <a:close/>
              </a:path>
            </a:pathLst>
          </a:custGeom>
          <a:solidFill>
            <a:srgbClr val="FFDC4A"/>
          </a:solidFill>
        </p:spPr>
        <p:txBody>
          <a:bodyPr wrap="square" lIns="0" tIns="0" rIns="0" bIns="0" rtlCol="0"/>
          <a:lstStyle/>
          <a:p>
            <a:r>
              <a:rPr lang="en-US" altLang="en-US" sz="2600" b="1">
                <a:latin typeface="Tahoma" panose="020B0604030504040204" charset="0"/>
                <a:cs typeface="Tahoma" panose="020B0604030504040204" charset="0"/>
              </a:rPr>
              <a:t>Ver - 2.0</a:t>
            </a:r>
            <a:endParaRPr lang="en-US" altLang="en-US" sz="2600" b="1">
              <a:latin typeface="Tahoma" panose="020B0604030504040204" charset="0"/>
              <a:cs typeface="Tahoma" panose="020B060403050404020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3309" y="3257483"/>
            <a:ext cx="4481830" cy="48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680"/>
              </a:lnSpc>
            </a:pPr>
            <a:r>
              <a:rPr lang="en-US" altLang="en-US" sz="5100" b="1" spc="-100" dirty="0">
                <a:solidFill>
                  <a:srgbClr val="63D197"/>
                </a:solidFill>
                <a:latin typeface="Tahoma" panose="020B0604030504040204"/>
                <a:cs typeface="Tahoma" panose="020B0604030504040204"/>
              </a:rPr>
              <a:t>TherapyX AI</a:t>
            </a:r>
            <a:endParaRPr sz="34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152400" y="666750"/>
            <a:ext cx="8754110" cy="43262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spcAft>
                <a:spcPct val="60000"/>
              </a:spcAft>
              <a:buFont typeface="Wingdings" panose="05000000000000000000" charset="0"/>
              <a:buChar char="q"/>
            </a:pPr>
            <a:r>
              <a:rPr lang="en-US" altLang="en-US" sz="1300" b="1">
                <a:sym typeface="+mn-ea"/>
              </a:rPr>
              <a:t>T</a:t>
            </a:r>
            <a:r>
              <a:rPr lang="en-US" altLang="en-US" sz="1300" b="1" u="sng">
                <a:sym typeface="+mn-ea"/>
              </a:rPr>
              <a:t>herapeutic &amp; Empathetic Conversations</a:t>
            </a:r>
            <a:endParaRPr lang="en-US" altLang="en-US" sz="1300" b="1"/>
          </a:p>
          <a:p>
            <a:pPr>
              <a:spcAft>
                <a:spcPct val="60000"/>
              </a:spcAft>
            </a:pPr>
            <a:r>
              <a:rPr lang="en-US" altLang="en-US" sz="1300">
                <a:sym typeface="+mn-ea"/>
              </a:rPr>
              <a:t>Provides supportive mental-health guidance using reasoning, enabling calm, compassionate responses to user emotions.</a:t>
            </a:r>
            <a:endParaRPr lang="en-US" altLang="en-US" sz="1300"/>
          </a:p>
          <a:p>
            <a:pPr marL="285750" indent="-285750">
              <a:spcAft>
                <a:spcPct val="60000"/>
              </a:spcAft>
              <a:buFont typeface="Wingdings" panose="05000000000000000000" charset="0"/>
              <a:buChar char="q"/>
            </a:pPr>
            <a:r>
              <a:rPr lang="en-US" altLang="en-US" sz="1300" b="1" u="sng">
                <a:sym typeface="+mn-ea"/>
              </a:rPr>
              <a:t>Crisis Detection &amp; Emergency Support</a:t>
            </a:r>
            <a:endParaRPr lang="en-US" altLang="en-US" sz="1300" b="1" u="sng"/>
          </a:p>
          <a:p>
            <a:pPr>
              <a:spcAft>
                <a:spcPct val="60000"/>
              </a:spcAft>
            </a:pPr>
            <a:r>
              <a:rPr lang="en-US" altLang="en-US" sz="1300">
                <a:sym typeface="+mn-ea"/>
              </a:rPr>
              <a:t>Identifies high-risk or distress signals and can trigger a Twilio emergency voice call to a predefined helpline for immediate human assistance.</a:t>
            </a:r>
            <a:endParaRPr lang="en-US" altLang="en-US" sz="1300"/>
          </a:p>
          <a:p>
            <a:pPr marL="285750" indent="-285750">
              <a:spcAft>
                <a:spcPct val="60000"/>
              </a:spcAft>
              <a:buFont typeface="Wingdings" panose="05000000000000000000" charset="0"/>
              <a:buChar char="q"/>
            </a:pPr>
            <a:r>
              <a:rPr lang="en-US" altLang="en-US" sz="1300" b="1" u="sng">
                <a:sym typeface="+mn-ea"/>
              </a:rPr>
              <a:t>Locate Nearby Therapists</a:t>
            </a:r>
            <a:endParaRPr lang="en-US" altLang="en-US" sz="1300" b="1"/>
          </a:p>
          <a:p>
            <a:pPr>
              <a:spcAft>
                <a:spcPct val="60000"/>
              </a:spcAft>
            </a:pPr>
            <a:r>
              <a:rPr lang="en-US" altLang="en-US" sz="1300">
                <a:sym typeface="+mn-ea"/>
              </a:rPr>
              <a:t>Uses the Google API to find real, verified mental-health professionals near the user, including name, address, and contact details.</a:t>
            </a:r>
            <a:endParaRPr lang="en-US" altLang="en-US" sz="1300"/>
          </a:p>
          <a:p>
            <a:pPr marL="285750" indent="-285750">
              <a:spcAft>
                <a:spcPct val="60000"/>
              </a:spcAft>
              <a:buFont typeface="Wingdings" panose="05000000000000000000" charset="0"/>
              <a:buChar char="q"/>
            </a:pPr>
            <a:r>
              <a:rPr lang="en-US" altLang="en-US" sz="1300" b="1" u="sng">
                <a:sym typeface="+mn-ea"/>
              </a:rPr>
              <a:t>Available Across Multiple Platforms</a:t>
            </a:r>
            <a:endParaRPr lang="en-US" altLang="en-US" sz="1300" b="1" u="sng"/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300">
                <a:sym typeface="+mn-ea"/>
              </a:rPr>
              <a:t>Streamlit Web Chat Interface</a:t>
            </a:r>
            <a:endParaRPr lang="en-US" altLang="en-US" sz="1300"/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300">
                <a:sym typeface="+mn-ea"/>
              </a:rPr>
              <a:t>WhatsApp via the Twilio messaging webhook</a:t>
            </a:r>
            <a:endParaRPr lang="en-US" altLang="en-US" sz="1300"/>
          </a:p>
          <a:p>
            <a:pPr marL="285750" indent="-285750">
              <a:spcAft>
                <a:spcPct val="60000"/>
              </a:spcAft>
              <a:buFont typeface="Wingdings" panose="05000000000000000000" charset="0"/>
              <a:buChar char="q"/>
            </a:pPr>
            <a:r>
              <a:rPr lang="en-US" altLang="en-US" sz="1300" b="1" u="sng">
                <a:sym typeface="+mn-ea"/>
              </a:rPr>
              <a:t>Supportive Companion (Not a Replacement)</a:t>
            </a:r>
            <a:endParaRPr lang="en-US" altLang="en-US" sz="1300" b="1"/>
          </a:p>
          <a:p>
            <a:pPr>
              <a:spcAft>
                <a:spcPct val="60000"/>
              </a:spcAft>
            </a:pPr>
            <a:r>
              <a:rPr lang="en-US" altLang="en-US" sz="1300">
                <a:sym typeface="+mn-ea"/>
              </a:rPr>
              <a:t>Designed to assist and guide users while reminding them it is not a substitute for licensed medical c</a:t>
            </a:r>
            <a:endParaRPr lang="en-US" altLang="en-US" sz="1300">
              <a:sym typeface="+mn-e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828800" y="57150"/>
            <a:ext cx="5892800" cy="533400"/>
          </a:xfrm>
          <a:prstGeom prst="rect">
            <a:avLst/>
          </a:prstGeom>
          <a:solidFill>
            <a:srgbClr val="63D197"/>
          </a:solidFill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2935"/>
              </a:lnSpc>
            </a:pPr>
            <a:r>
              <a:rPr lang="en-US" sz="2500" dirty="0">
                <a:solidFill>
                  <a:srgbClr val="202729"/>
                </a:solidFill>
                <a:latin typeface="Arial" panose="020B0604020202020204"/>
                <a:cs typeface="Arial" panose="020B0604020202020204"/>
              </a:rPr>
              <a:t>Overview - What TherapyX AI Do?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53975" y="691515"/>
            <a:ext cx="5674360" cy="2317750"/>
          </a:xfrm>
          <a:prstGeom prst="rect">
            <a:avLst/>
          </a:prstGeom>
        </p:spPr>
        <p:txBody>
          <a:bodyPr vert="horz" wrap="square" lIns="0" tIns="48895" rIns="0" bIns="0" rtlCol="0">
            <a:noAutofit/>
          </a:bodyPr>
          <a:lstStyle/>
          <a:p>
            <a:pPr marL="12700" indent="0">
              <a:lnSpc>
                <a:spcPct val="100000"/>
              </a:lnSpc>
              <a:spcBef>
                <a:spcPts val="385"/>
              </a:spcBef>
              <a:buNone/>
              <a:tabLst>
                <a:tab pos="363855" algn="l"/>
              </a:tabLst>
            </a:pPr>
            <a:r>
              <a:rPr lang="en-US" altLang="en-US" sz="1500" b="1" u="sng">
                <a:latin typeface="Arial MT"/>
                <a:cs typeface="Arial MT"/>
              </a:rPr>
              <a:t>AI &amp; LLM Stack</a:t>
            </a:r>
            <a:endParaRPr lang="en-US" altLang="en-US" sz="1500" b="1" u="sng">
              <a:latin typeface="Arial MT"/>
              <a:cs typeface="Arial MT"/>
            </a:endParaRPr>
          </a:p>
          <a:p>
            <a:pPr marL="363855" indent="-351155">
              <a:lnSpc>
                <a:spcPct val="10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endParaRPr lang="en-US" altLang="en-US" sz="1300">
              <a:latin typeface="Arial MT"/>
              <a:cs typeface="Arial MT"/>
            </a:endParaRPr>
          </a:p>
          <a:p>
            <a:pPr marL="363855" indent="-351155">
              <a:lnSpc>
                <a:spcPct val="6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r>
              <a:rPr lang="en-US" altLang="en-US" sz="1200">
                <a:latin typeface="Arial MT"/>
                <a:cs typeface="Arial MT"/>
              </a:rPr>
              <a:t>Healthcare-focused LLMs (MedGemma – Google)</a:t>
            </a:r>
            <a:endParaRPr lang="en-US" altLang="en-US" sz="1200">
              <a:latin typeface="Arial MT"/>
              <a:cs typeface="Arial MT"/>
            </a:endParaRPr>
          </a:p>
          <a:p>
            <a:pPr marL="363855" indent="-351155">
              <a:lnSpc>
                <a:spcPct val="6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endParaRPr lang="en-US" altLang="en-US" sz="1200">
              <a:latin typeface="Arial MT"/>
              <a:cs typeface="Arial MT"/>
            </a:endParaRPr>
          </a:p>
          <a:p>
            <a:pPr marL="363855" indent="-351155">
              <a:lnSpc>
                <a:spcPct val="6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r>
              <a:rPr lang="en-US" altLang="en-US" sz="1200">
                <a:latin typeface="Arial MT"/>
                <a:cs typeface="Arial MT"/>
              </a:rPr>
              <a:t>Multi-model LLMs via Ollama API (GPT-4, Claude, Groq, etc.)</a:t>
            </a:r>
            <a:endParaRPr lang="en-US" altLang="en-US" sz="1200">
              <a:latin typeface="Arial MT"/>
              <a:cs typeface="Arial MT"/>
            </a:endParaRPr>
          </a:p>
          <a:p>
            <a:pPr marL="363855" indent="-351155">
              <a:lnSpc>
                <a:spcPct val="6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endParaRPr lang="en-US" altLang="en-US" sz="1200">
              <a:latin typeface="Arial MT"/>
              <a:cs typeface="Arial MT"/>
            </a:endParaRPr>
          </a:p>
          <a:p>
            <a:pPr marL="363855" indent="-351155">
              <a:lnSpc>
                <a:spcPct val="6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r>
              <a:rPr lang="en-US" altLang="en-US" sz="1200">
                <a:latin typeface="Arial MT"/>
                <a:cs typeface="Arial MT"/>
              </a:rPr>
              <a:t>AI Chatbot development using LangGraph &amp; LangChain</a:t>
            </a:r>
            <a:endParaRPr lang="en-US" altLang="en-US" sz="1200">
              <a:latin typeface="Arial MT"/>
              <a:cs typeface="Arial MT"/>
            </a:endParaRPr>
          </a:p>
          <a:p>
            <a:pPr marL="363855" indent="-351155">
              <a:lnSpc>
                <a:spcPct val="6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endParaRPr lang="en-US" altLang="en-US" sz="1200">
              <a:latin typeface="Arial MT"/>
              <a:cs typeface="Arial MT"/>
            </a:endParaRPr>
          </a:p>
          <a:p>
            <a:pPr marL="363855" indent="-351155">
              <a:lnSpc>
                <a:spcPct val="6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r>
              <a:rPr lang="en-US" altLang="en-US" sz="1200">
                <a:latin typeface="Arial MT"/>
                <a:cs typeface="Arial MT"/>
              </a:rPr>
              <a:t>Agentic workflow with tool-calling &amp; reasoning</a:t>
            </a:r>
            <a:endParaRPr lang="en-US" altLang="en-US" sz="1200">
              <a:latin typeface="Arial MT"/>
              <a:cs typeface="Arial MT"/>
            </a:endParaRPr>
          </a:p>
          <a:p>
            <a:pPr marL="363855" indent="-351155">
              <a:lnSpc>
                <a:spcPct val="6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endParaRPr lang="en-US" altLang="en-US" sz="1200">
              <a:latin typeface="Arial MT"/>
              <a:cs typeface="Arial MT"/>
            </a:endParaRPr>
          </a:p>
          <a:p>
            <a:pPr marL="363855" indent="-351155">
              <a:lnSpc>
                <a:spcPct val="6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endParaRPr lang="en-US" altLang="en-US" sz="1500" b="1" u="sng">
              <a:latin typeface="Arial MT"/>
              <a:cs typeface="Arial MT"/>
            </a:endParaRPr>
          </a:p>
          <a:p>
            <a:pPr marL="12700" indent="0">
              <a:lnSpc>
                <a:spcPct val="60000"/>
              </a:lnSpc>
              <a:spcBef>
                <a:spcPts val="385"/>
              </a:spcBef>
              <a:buNone/>
              <a:tabLst>
                <a:tab pos="363855" algn="l"/>
              </a:tabLst>
            </a:pPr>
            <a:r>
              <a:rPr lang="en-US" altLang="en-US" sz="1500" b="1" u="sng">
                <a:latin typeface="Arial MT"/>
                <a:cs typeface="Arial MT"/>
              </a:rPr>
              <a:t>Frontend Interfaces</a:t>
            </a:r>
            <a:endParaRPr lang="en-US" altLang="en-US" sz="1500" b="1" u="sng">
              <a:latin typeface="Arial MT"/>
              <a:cs typeface="Arial MT"/>
            </a:endParaRPr>
          </a:p>
          <a:p>
            <a:pPr marL="363855" indent="-351155">
              <a:lnSpc>
                <a:spcPct val="6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endParaRPr lang="en-US" altLang="en-US" sz="1300">
              <a:latin typeface="Arial MT"/>
              <a:cs typeface="Arial MT"/>
            </a:endParaRPr>
          </a:p>
          <a:p>
            <a:pPr marL="363855" indent="-351155">
              <a:lnSpc>
                <a:spcPct val="4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r>
              <a:rPr lang="en-US" altLang="en-US" sz="1200">
                <a:latin typeface="Arial MT"/>
                <a:cs typeface="Arial MT"/>
              </a:rPr>
              <a:t>Streamlit Web Chat UI</a:t>
            </a:r>
            <a:endParaRPr lang="en-US" altLang="en-US" sz="1200">
              <a:latin typeface="Arial MT"/>
              <a:cs typeface="Arial MT"/>
            </a:endParaRPr>
          </a:p>
          <a:p>
            <a:pPr marL="363855" indent="-351155">
              <a:lnSpc>
                <a:spcPct val="4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endParaRPr lang="en-US" altLang="en-US" sz="1200">
              <a:latin typeface="Arial MT"/>
              <a:cs typeface="Arial MT"/>
            </a:endParaRPr>
          </a:p>
          <a:p>
            <a:pPr marL="363855" indent="-351155">
              <a:lnSpc>
                <a:spcPct val="4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r>
              <a:rPr lang="en-US" altLang="en-US" sz="1200">
                <a:latin typeface="Arial MT"/>
                <a:cs typeface="Arial MT"/>
              </a:rPr>
              <a:t>WhatsApp Chat Interface via Twilio</a:t>
            </a:r>
            <a:endParaRPr lang="en-US" altLang="en-US" sz="1200">
              <a:latin typeface="Arial MT"/>
              <a:cs typeface="Arial MT"/>
            </a:endParaRPr>
          </a:p>
          <a:p>
            <a:pPr marL="363855" indent="-351155">
              <a:lnSpc>
                <a:spcPct val="4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endParaRPr lang="en-US" altLang="en-US" sz="1300">
              <a:latin typeface="Arial MT"/>
              <a:cs typeface="Arial MT"/>
            </a:endParaRPr>
          </a:p>
          <a:p>
            <a:pPr marL="363855" indent="-351155">
              <a:lnSpc>
                <a:spcPct val="6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endParaRPr lang="en-US" altLang="en-US" sz="1300">
              <a:latin typeface="Arial MT"/>
              <a:cs typeface="Arial MT"/>
            </a:endParaRPr>
          </a:p>
          <a:p>
            <a:pPr marL="12700" indent="0">
              <a:lnSpc>
                <a:spcPct val="60000"/>
              </a:lnSpc>
              <a:spcBef>
                <a:spcPts val="385"/>
              </a:spcBef>
              <a:buNone/>
              <a:tabLst>
                <a:tab pos="363855" algn="l"/>
              </a:tabLst>
            </a:pPr>
            <a:r>
              <a:rPr lang="en-US" altLang="en-US" sz="1500" b="1" u="sng">
                <a:latin typeface="Arial MT"/>
                <a:cs typeface="Arial MT"/>
              </a:rPr>
              <a:t>Backend &amp; Infrastructure</a:t>
            </a:r>
            <a:endParaRPr lang="en-US" altLang="en-US" sz="1500" b="1" u="sng">
              <a:latin typeface="Arial MT"/>
              <a:cs typeface="Arial MT"/>
            </a:endParaRPr>
          </a:p>
          <a:p>
            <a:pPr marL="363855" indent="-351155">
              <a:lnSpc>
                <a:spcPct val="5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endParaRPr lang="en-US" altLang="en-US" sz="1200">
              <a:latin typeface="Arial MT"/>
              <a:cs typeface="Arial MT"/>
            </a:endParaRPr>
          </a:p>
          <a:p>
            <a:pPr marL="363855" indent="-351155">
              <a:lnSpc>
                <a:spcPct val="5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r>
              <a:rPr lang="en-US" altLang="en-US" sz="1200">
                <a:latin typeface="Arial MT"/>
                <a:cs typeface="Arial MT"/>
              </a:rPr>
              <a:t>FastAPI backend (WhatsApp webhook + /ask API)</a:t>
            </a:r>
            <a:endParaRPr lang="en-US" altLang="en-US" sz="1200">
              <a:latin typeface="Arial MT"/>
              <a:cs typeface="Arial MT"/>
            </a:endParaRPr>
          </a:p>
          <a:p>
            <a:pPr marL="363855" indent="-351155">
              <a:lnSpc>
                <a:spcPct val="5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endParaRPr lang="en-US" altLang="en-US" sz="1200">
              <a:latin typeface="Arial MT"/>
              <a:cs typeface="Arial MT"/>
            </a:endParaRPr>
          </a:p>
          <a:p>
            <a:pPr marL="363855" indent="-351155">
              <a:lnSpc>
                <a:spcPct val="5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r>
              <a:rPr lang="en-US" altLang="en-US" sz="1200">
                <a:latin typeface="Arial MT"/>
                <a:cs typeface="Arial MT"/>
              </a:rPr>
              <a:t>NGROK tunneling for public WhatsApp access</a:t>
            </a:r>
            <a:endParaRPr lang="en-US" altLang="en-US" sz="1200">
              <a:latin typeface="Arial MT"/>
              <a:cs typeface="Arial MT"/>
            </a:endParaRPr>
          </a:p>
          <a:p>
            <a:pPr marL="363855" indent="-351155">
              <a:lnSpc>
                <a:spcPct val="5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endParaRPr lang="en-US" altLang="en-US" sz="1200">
              <a:latin typeface="Arial MT"/>
              <a:cs typeface="Arial MT"/>
            </a:endParaRPr>
          </a:p>
          <a:p>
            <a:pPr marL="363855" indent="-351155">
              <a:lnSpc>
                <a:spcPct val="5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r>
              <a:rPr lang="en-US" altLang="en-US" sz="1200">
                <a:latin typeface="Arial MT"/>
                <a:cs typeface="Arial MT"/>
              </a:rPr>
              <a:t>Clean repository structure (Version 2 optimized)</a:t>
            </a:r>
            <a:endParaRPr lang="en-US" altLang="en-US" sz="1200">
              <a:latin typeface="Arial MT"/>
              <a:cs typeface="Arial MT"/>
            </a:endParaRPr>
          </a:p>
          <a:p>
            <a:pPr marL="363855" indent="-351155">
              <a:lnSpc>
                <a:spcPct val="6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endParaRPr lang="en-US" altLang="en-US" sz="1300">
              <a:latin typeface="Arial MT"/>
              <a:cs typeface="Arial MT"/>
            </a:endParaRPr>
          </a:p>
          <a:p>
            <a:pPr marL="363855" indent="-351155">
              <a:lnSpc>
                <a:spcPct val="6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endParaRPr lang="en-US" altLang="en-US" sz="13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165675" y="2457298"/>
            <a:ext cx="542174" cy="5421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32849" y="1107012"/>
            <a:ext cx="909299" cy="4085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3137" y="2070212"/>
            <a:ext cx="438199" cy="438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49486" y="3210587"/>
            <a:ext cx="1687423" cy="18952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683750" y="1550924"/>
            <a:ext cx="1263650" cy="782320"/>
            <a:chOff x="5683750" y="1550924"/>
            <a:chExt cx="1263650" cy="78232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83750" y="1924338"/>
              <a:ext cx="1133677" cy="4085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28525" y="1550924"/>
              <a:ext cx="1218653" cy="38490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58925" y="2667290"/>
            <a:ext cx="1385067" cy="3849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80018" y="1799393"/>
            <a:ext cx="513488" cy="51348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27600" y="1642289"/>
            <a:ext cx="909301" cy="26906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819400" y="133350"/>
            <a:ext cx="2581275" cy="375920"/>
          </a:xfrm>
          <a:prstGeom prst="rect">
            <a:avLst/>
          </a:prstGeom>
          <a:solidFill>
            <a:srgbClr val="63D19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35"/>
              </a:lnSpc>
            </a:pPr>
            <a:r>
              <a:rPr sz="2500" dirty="0">
                <a:solidFill>
                  <a:srgbClr val="202729"/>
                </a:solidFill>
                <a:latin typeface="Arial" panose="020B0604020202020204"/>
                <a:cs typeface="Arial" panose="020B0604020202020204"/>
              </a:rPr>
              <a:t>Topics</a:t>
            </a:r>
            <a:r>
              <a:rPr sz="2500" spc="-125" dirty="0">
                <a:solidFill>
                  <a:srgbClr val="20272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00" spc="-10" dirty="0">
                <a:solidFill>
                  <a:srgbClr val="202729"/>
                </a:solidFill>
                <a:latin typeface="Arial" panose="020B0604020202020204"/>
                <a:cs typeface="Arial" panose="020B0604020202020204"/>
              </a:rPr>
              <a:t>Covered</a:t>
            </a:r>
            <a:endParaRPr sz="25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26959" y="3179988"/>
            <a:ext cx="1400467" cy="25228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13501" y="2403464"/>
            <a:ext cx="1133676" cy="596921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spc="-25" dirty="0"/>
              <a:t>@AI.with.Hassan</a:t>
            </a:r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285750"/>
            <a:ext cx="3673475" cy="375920"/>
          </a:xfrm>
          <a:prstGeom prst="rect">
            <a:avLst/>
          </a:prstGeom>
          <a:solidFill>
            <a:srgbClr val="63D19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35"/>
              </a:lnSpc>
            </a:pPr>
            <a:r>
              <a:rPr lang="en-US" sz="2500" spc="-10" dirty="0">
                <a:solidFill>
                  <a:srgbClr val="202729"/>
                </a:solidFill>
                <a:latin typeface="Arial" panose="020B0604020202020204"/>
                <a:cs typeface="Arial" panose="020B0604020202020204"/>
              </a:rPr>
              <a:t>First Stage </a:t>
            </a:r>
            <a:r>
              <a:rPr sz="2500" spc="-10" dirty="0">
                <a:solidFill>
                  <a:srgbClr val="202729"/>
                </a:solidFill>
                <a:latin typeface="Arial" panose="020B0604020202020204"/>
                <a:cs typeface="Arial" panose="020B0604020202020204"/>
              </a:rPr>
              <a:t>Architecture</a:t>
            </a:r>
            <a:r>
              <a:rPr lang="en-US" sz="2500" spc="-10" dirty="0">
                <a:solidFill>
                  <a:srgbClr val="202729"/>
                </a:solidFill>
                <a:latin typeface="Arial" panose="020B0604020202020204"/>
                <a:cs typeface="Arial" panose="020B0604020202020204"/>
              </a:rPr>
              <a:t>  </a:t>
            </a:r>
            <a:endParaRPr lang="en-US" sz="2500" spc="-10" dirty="0">
              <a:solidFill>
                <a:srgbClr val="202729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2400" y="1200150"/>
            <a:ext cx="8599170" cy="36004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spc="-25" dirty="0"/>
              <a:t>@AI.with.Hassan</a:t>
            </a:r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Screenshot 2025-11-23 1116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14730"/>
            <a:ext cx="9144000" cy="3357880"/>
          </a:xfrm>
          <a:prstGeom prst="rect">
            <a:avLst/>
          </a:prstGeom>
        </p:spPr>
      </p:pic>
      <p:sp>
        <p:nvSpPr>
          <p:cNvPr id="7" name="object 2"/>
          <p:cNvSpPr txBox="1">
            <a:spLocks noGrp="1"/>
          </p:cNvSpPr>
          <p:nvPr>
            <p:ph type="title"/>
          </p:nvPr>
        </p:nvSpPr>
        <p:spPr>
          <a:xfrm>
            <a:off x="228600" y="285750"/>
            <a:ext cx="6050280" cy="481330"/>
          </a:xfrm>
          <a:prstGeom prst="rect">
            <a:avLst/>
          </a:prstGeom>
          <a:solidFill>
            <a:srgbClr val="63D197"/>
          </a:solidFill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2935"/>
              </a:lnSpc>
            </a:pPr>
            <a:r>
              <a:rPr lang="en-US" sz="2500" spc="-10" dirty="0">
                <a:solidFill>
                  <a:srgbClr val="202729"/>
                </a:solidFill>
                <a:latin typeface="Arial" panose="020B0604020202020204"/>
                <a:cs typeface="Arial" panose="020B0604020202020204"/>
              </a:rPr>
              <a:t>Final </a:t>
            </a:r>
            <a:r>
              <a:rPr sz="2500" spc="-10" dirty="0">
                <a:solidFill>
                  <a:srgbClr val="202729"/>
                </a:solidFill>
                <a:latin typeface="Arial" panose="020B0604020202020204"/>
                <a:cs typeface="Arial" panose="020B0604020202020204"/>
              </a:rPr>
              <a:t>Technical</a:t>
            </a:r>
            <a:r>
              <a:rPr sz="2500" spc="-110" dirty="0">
                <a:solidFill>
                  <a:srgbClr val="20272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00" spc="-10" dirty="0">
                <a:solidFill>
                  <a:srgbClr val="202729"/>
                </a:solidFill>
                <a:latin typeface="Arial" panose="020B0604020202020204"/>
                <a:cs typeface="Arial" panose="020B0604020202020204"/>
              </a:rPr>
              <a:t>Architecture</a:t>
            </a:r>
            <a:r>
              <a:rPr lang="en-US" sz="2500" spc="-10" dirty="0">
                <a:solidFill>
                  <a:srgbClr val="202729"/>
                </a:solidFill>
                <a:latin typeface="Arial" panose="020B0604020202020204"/>
                <a:cs typeface="Arial" panose="020B0604020202020204"/>
              </a:rPr>
              <a:t> </a:t>
            </a:r>
            <a:endParaRPr lang="en-US" sz="2500" spc="-10" dirty="0">
              <a:solidFill>
                <a:srgbClr val="202729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315" y="209440"/>
            <a:ext cx="1790700" cy="387350"/>
          </a:xfrm>
          <a:prstGeom prst="rect">
            <a:avLst/>
          </a:prstGeom>
          <a:solidFill>
            <a:srgbClr val="63D19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35"/>
              </a:lnSpc>
            </a:pPr>
            <a:r>
              <a:rPr sz="2500" dirty="0">
                <a:solidFill>
                  <a:srgbClr val="202729"/>
                </a:solidFill>
                <a:latin typeface="Arial" panose="020B0604020202020204"/>
                <a:cs typeface="Arial" panose="020B0604020202020204"/>
              </a:rPr>
              <a:t>Code</a:t>
            </a:r>
            <a:r>
              <a:rPr sz="2500" spc="50" dirty="0">
                <a:solidFill>
                  <a:srgbClr val="20272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00" spc="-10" dirty="0">
                <a:solidFill>
                  <a:srgbClr val="202729"/>
                </a:solidFill>
                <a:latin typeface="Arial" panose="020B0604020202020204"/>
                <a:cs typeface="Arial" panose="020B0604020202020204"/>
              </a:rPr>
              <a:t>Setup</a:t>
            </a:r>
            <a:endParaRPr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spc="-25" dirty="0"/>
              <a:t>@AI.with.Hassan</a:t>
            </a:r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152400" y="666750"/>
            <a:ext cx="4419600" cy="445960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/>
              <a:t>Phase</a:t>
            </a:r>
            <a:r>
              <a:rPr spc="-70" dirty="0"/>
              <a:t> </a:t>
            </a:r>
            <a:r>
              <a:rPr spc="-240" dirty="0"/>
              <a:t>1:</a:t>
            </a:r>
            <a:r>
              <a:rPr spc="-65" dirty="0"/>
              <a:t> </a:t>
            </a:r>
            <a:r>
              <a:rPr dirty="0"/>
              <a:t>Setup</a:t>
            </a:r>
            <a:r>
              <a:rPr spc="-70" dirty="0"/>
              <a:t> </a:t>
            </a:r>
            <a:r>
              <a:rPr spc="-10" dirty="0"/>
              <a:t>Frontend</a:t>
            </a:r>
            <a:endParaRPr spc="-10" dirty="0"/>
          </a:p>
          <a:p>
            <a:pPr marL="469265" indent="-351155">
              <a:lnSpc>
                <a:spcPts val="1870"/>
              </a:lnSpc>
              <a:spcBef>
                <a:spcPts val="1105"/>
              </a:spcBef>
              <a:buFont typeface="Wingdings" panose="05000000000000000000" charset="0"/>
              <a:buChar char="o"/>
              <a:tabLst>
                <a:tab pos="469265" algn="l"/>
              </a:tabLst>
            </a:pPr>
            <a:r>
              <a:rPr sz="1500" b="0" u="none" dirty="0">
                <a:latin typeface="Trebuchet MS" panose="020B0603020202020204"/>
                <a:cs typeface="Trebuchet MS" panose="020B0603020202020204"/>
              </a:rPr>
              <a:t>Setup</a:t>
            </a:r>
            <a:r>
              <a:rPr sz="1500" b="0" u="none" spc="-3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500" b="0" u="none" spc="-10" dirty="0">
                <a:latin typeface="Trebuchet MS" panose="020B0603020202020204"/>
                <a:cs typeface="Trebuchet MS" panose="020B0603020202020204"/>
              </a:rPr>
              <a:t>Streamlit</a:t>
            </a:r>
            <a:endParaRPr sz="1500" b="0" u="none" spc="-10" dirty="0">
              <a:latin typeface="Trebuchet MS" panose="020B0603020202020204"/>
              <a:cs typeface="Trebuchet MS" panose="020B0603020202020204"/>
            </a:endParaRPr>
          </a:p>
          <a:p>
            <a:pPr marL="469265" indent="-351155">
              <a:lnSpc>
                <a:spcPts val="1825"/>
              </a:lnSpc>
              <a:buFont typeface="Wingdings" panose="05000000000000000000" charset="0"/>
              <a:buChar char="o"/>
              <a:tabLst>
                <a:tab pos="469265" algn="l"/>
              </a:tabLst>
            </a:pPr>
            <a:r>
              <a:rPr sz="1500" b="0" u="none" dirty="0">
                <a:latin typeface="Trebuchet MS" panose="020B0603020202020204"/>
                <a:cs typeface="Trebuchet MS" panose="020B0603020202020204"/>
              </a:rPr>
              <a:t>User</a:t>
            </a:r>
            <a:r>
              <a:rPr sz="1500" b="0" u="none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500" b="0" u="none" dirty="0">
                <a:latin typeface="Trebuchet MS" panose="020B0603020202020204"/>
                <a:cs typeface="Trebuchet MS" panose="020B0603020202020204"/>
              </a:rPr>
              <a:t>is</a:t>
            </a:r>
            <a:r>
              <a:rPr sz="1500" b="0" u="none" spc="-3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500" b="0" u="none" spc="-10" dirty="0">
                <a:latin typeface="Trebuchet MS" panose="020B0603020202020204"/>
                <a:cs typeface="Trebuchet MS" panose="020B0603020202020204"/>
              </a:rPr>
              <a:t>able</a:t>
            </a:r>
            <a:r>
              <a:rPr sz="1500" b="0" u="none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500" b="0" u="none" spc="-65" dirty="0">
                <a:latin typeface="Trebuchet MS" panose="020B0603020202020204"/>
                <a:cs typeface="Trebuchet MS" panose="020B0603020202020204"/>
              </a:rPr>
              <a:t>to</a:t>
            </a:r>
            <a:r>
              <a:rPr sz="1500" b="0" u="none" spc="-3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500" b="0" u="none" dirty="0">
                <a:latin typeface="Trebuchet MS" panose="020B0603020202020204"/>
                <a:cs typeface="Trebuchet MS" panose="020B0603020202020204"/>
              </a:rPr>
              <a:t>ask</a:t>
            </a:r>
            <a:r>
              <a:rPr sz="1500" b="0" u="none" spc="-3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500" b="0" u="none" spc="-10" dirty="0">
                <a:latin typeface="Trebuchet MS" panose="020B0603020202020204"/>
                <a:cs typeface="Trebuchet MS" panose="020B0603020202020204"/>
              </a:rPr>
              <a:t>question</a:t>
            </a:r>
            <a:endParaRPr sz="1500" b="0" u="none" spc="-10" dirty="0">
              <a:latin typeface="Trebuchet MS" panose="020B0603020202020204"/>
              <a:cs typeface="Trebuchet MS" panose="020B0603020202020204"/>
            </a:endParaRPr>
          </a:p>
          <a:p>
            <a:pPr marL="469265" indent="-351155">
              <a:lnSpc>
                <a:spcPts val="1870"/>
              </a:lnSpc>
              <a:buFont typeface="Wingdings" panose="05000000000000000000" charset="0"/>
              <a:buChar char="o"/>
              <a:tabLst>
                <a:tab pos="469265" algn="l"/>
              </a:tabLst>
            </a:pPr>
            <a:r>
              <a:rPr sz="1500" b="0" u="none" dirty="0">
                <a:latin typeface="Trebuchet MS" panose="020B0603020202020204"/>
                <a:cs typeface="Trebuchet MS" panose="020B0603020202020204"/>
              </a:rPr>
              <a:t>Show</a:t>
            </a:r>
            <a:r>
              <a:rPr sz="1500" b="0" u="none" spc="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500" b="0" u="none" dirty="0">
                <a:latin typeface="Trebuchet MS" panose="020B0603020202020204"/>
                <a:cs typeface="Trebuchet MS" panose="020B0603020202020204"/>
              </a:rPr>
              <a:t>response</a:t>
            </a:r>
            <a:r>
              <a:rPr sz="1500" b="0" u="none" spc="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500" b="0" u="none" spc="-65" dirty="0">
                <a:latin typeface="Trebuchet MS" panose="020B0603020202020204"/>
                <a:cs typeface="Trebuchet MS" panose="020B0603020202020204"/>
              </a:rPr>
              <a:t>from</a:t>
            </a:r>
            <a:r>
              <a:rPr sz="1500" b="0" u="none" spc="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500" b="0" u="none" spc="-10" dirty="0">
                <a:latin typeface="Trebuchet MS" panose="020B0603020202020204"/>
                <a:cs typeface="Trebuchet MS" panose="020B0603020202020204"/>
              </a:rPr>
              <a:t>backend</a:t>
            </a:r>
            <a:endParaRPr sz="1500" b="0" u="none" spc="-10" dirty="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/>
              <a:t>Phase</a:t>
            </a:r>
            <a:r>
              <a:rPr spc="-70" dirty="0"/>
              <a:t> </a:t>
            </a:r>
            <a:r>
              <a:rPr spc="-90" dirty="0"/>
              <a:t>2:</a:t>
            </a:r>
            <a:r>
              <a:rPr spc="-65" dirty="0"/>
              <a:t> </a:t>
            </a:r>
            <a:r>
              <a:rPr dirty="0"/>
              <a:t>Setup</a:t>
            </a:r>
            <a:r>
              <a:rPr spc="-70" dirty="0"/>
              <a:t> </a:t>
            </a:r>
            <a:r>
              <a:rPr spc="-10" dirty="0"/>
              <a:t>Backend</a:t>
            </a:r>
            <a:endParaRPr spc="-10" dirty="0"/>
          </a:p>
          <a:p>
            <a:pPr marL="469265" indent="-351155">
              <a:lnSpc>
                <a:spcPts val="1870"/>
              </a:lnSpc>
              <a:spcBef>
                <a:spcPts val="1105"/>
              </a:spcBef>
              <a:buFont typeface="Wingdings" panose="05000000000000000000" charset="0"/>
              <a:buChar char="q"/>
              <a:tabLst>
                <a:tab pos="469265" algn="l"/>
              </a:tabLst>
            </a:pPr>
            <a:r>
              <a:rPr sz="1500" b="0" u="none" dirty="0">
                <a:latin typeface="Trebuchet MS" panose="020B0603020202020204"/>
                <a:cs typeface="Trebuchet MS" panose="020B0603020202020204"/>
              </a:rPr>
              <a:t>Setup</a:t>
            </a:r>
            <a:r>
              <a:rPr sz="1500" b="0" u="none" spc="-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500" b="0" u="none" dirty="0">
                <a:latin typeface="Trebuchet MS" panose="020B0603020202020204"/>
                <a:cs typeface="Trebuchet MS" panose="020B0603020202020204"/>
              </a:rPr>
              <a:t>FastAPI</a:t>
            </a:r>
            <a:r>
              <a:rPr sz="1500" b="0" u="none" spc="-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500" b="0" u="none" spc="-10" dirty="0">
                <a:latin typeface="Trebuchet MS" panose="020B0603020202020204"/>
                <a:cs typeface="Trebuchet MS" panose="020B0603020202020204"/>
              </a:rPr>
              <a:t>backend</a:t>
            </a:r>
            <a:endParaRPr sz="1500" b="0" u="none" spc="-10" dirty="0">
              <a:latin typeface="Trebuchet MS" panose="020B0603020202020204"/>
              <a:cs typeface="Trebuchet MS" panose="020B0603020202020204"/>
            </a:endParaRPr>
          </a:p>
          <a:p>
            <a:pPr marL="469900" marR="5080" indent="-351790">
              <a:lnSpc>
                <a:spcPts val="1820"/>
              </a:lnSpc>
              <a:spcBef>
                <a:spcPts val="95"/>
              </a:spcBef>
              <a:buFont typeface="Wingdings" panose="05000000000000000000" charset="0"/>
              <a:buChar char="q"/>
              <a:tabLst>
                <a:tab pos="469900" algn="l"/>
              </a:tabLst>
            </a:pPr>
            <a:r>
              <a:rPr sz="1500" b="0" u="none" spc="-10" dirty="0">
                <a:latin typeface="Trebuchet MS" panose="020B0603020202020204"/>
                <a:cs typeface="Trebuchet MS" panose="020B0603020202020204"/>
              </a:rPr>
              <a:t>Receive</a:t>
            </a:r>
            <a:r>
              <a:rPr sz="1500" b="0" u="none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500" b="0" u="none" dirty="0">
                <a:latin typeface="Trebuchet MS" panose="020B0603020202020204"/>
                <a:cs typeface="Trebuchet MS" panose="020B0603020202020204"/>
              </a:rPr>
              <a:t>and</a:t>
            </a:r>
            <a:r>
              <a:rPr sz="1500" b="0" u="none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500" b="0" u="none" spc="-45" dirty="0">
                <a:latin typeface="Trebuchet MS" panose="020B0603020202020204"/>
                <a:cs typeface="Trebuchet MS" panose="020B0603020202020204"/>
              </a:rPr>
              <a:t>validate</a:t>
            </a:r>
            <a:r>
              <a:rPr sz="1500" b="0" u="none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500" b="0" u="none" spc="-10" dirty="0">
                <a:latin typeface="Trebuchet MS" panose="020B0603020202020204"/>
                <a:cs typeface="Trebuchet MS" panose="020B0603020202020204"/>
              </a:rPr>
              <a:t>request</a:t>
            </a:r>
            <a:r>
              <a:rPr sz="1500" b="0" u="none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500" b="0" u="none" spc="-50" dirty="0">
                <a:latin typeface="Trebuchet MS" panose="020B0603020202020204"/>
                <a:cs typeface="Trebuchet MS" panose="020B0603020202020204"/>
              </a:rPr>
              <a:t>from </a:t>
            </a:r>
            <a:r>
              <a:rPr sz="1500" b="0" u="none" spc="-10" dirty="0">
                <a:latin typeface="Trebuchet MS" panose="020B0603020202020204"/>
                <a:cs typeface="Trebuchet MS" panose="020B0603020202020204"/>
              </a:rPr>
              <a:t>Frontend</a:t>
            </a:r>
            <a:endParaRPr sz="1500" b="0" u="none" spc="-10" dirty="0">
              <a:latin typeface="Trebuchet MS" panose="020B0603020202020204"/>
              <a:cs typeface="Trebuchet MS" panose="020B0603020202020204"/>
            </a:endParaRPr>
          </a:p>
          <a:p>
            <a:pPr marL="469265" indent="-351155">
              <a:lnSpc>
                <a:spcPts val="1785"/>
              </a:lnSpc>
              <a:buFont typeface="Wingdings" panose="05000000000000000000" charset="0"/>
              <a:buChar char="q"/>
              <a:tabLst>
                <a:tab pos="469265" algn="l"/>
              </a:tabLst>
            </a:pPr>
            <a:r>
              <a:rPr sz="1500" b="0" u="none" spc="50" dirty="0">
                <a:latin typeface="Trebuchet MS" panose="020B0603020202020204"/>
                <a:cs typeface="Trebuchet MS" panose="020B0603020202020204"/>
              </a:rPr>
              <a:t>Send</a:t>
            </a:r>
            <a:r>
              <a:rPr sz="1500" b="0" u="none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500" b="0" u="none" dirty="0">
                <a:latin typeface="Trebuchet MS" panose="020B0603020202020204"/>
                <a:cs typeface="Trebuchet MS" panose="020B0603020202020204"/>
              </a:rPr>
              <a:t>response</a:t>
            </a:r>
            <a:r>
              <a:rPr sz="1500" b="0" u="none" spc="-1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500" b="0" u="none" spc="-65" dirty="0">
                <a:latin typeface="Trebuchet MS" panose="020B0603020202020204"/>
                <a:cs typeface="Trebuchet MS" panose="020B0603020202020204"/>
              </a:rPr>
              <a:t>to</a:t>
            </a:r>
            <a:r>
              <a:rPr sz="1500" b="0" u="none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500" b="0" u="none" spc="-50" dirty="0">
                <a:latin typeface="Trebuchet MS" panose="020B0603020202020204"/>
                <a:cs typeface="Trebuchet MS" panose="020B0603020202020204"/>
              </a:rPr>
              <a:t>the</a:t>
            </a:r>
            <a:r>
              <a:rPr sz="1500" b="0" u="none" spc="-1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500" b="0" u="none" spc="-10" dirty="0">
                <a:latin typeface="Trebuchet MS" panose="020B0603020202020204"/>
                <a:cs typeface="Trebuchet MS" panose="020B0603020202020204"/>
              </a:rPr>
              <a:t>frontend</a:t>
            </a:r>
            <a:endParaRPr sz="1500" b="0" u="none" spc="-10" dirty="0">
              <a:latin typeface="Trebuchet MS" panose="020B0603020202020204"/>
              <a:cs typeface="Trebuchet MS" panose="020B0603020202020204"/>
            </a:endParaRPr>
          </a:p>
          <a:p>
            <a:pPr marL="469265" indent="-351155">
              <a:lnSpc>
                <a:spcPts val="1785"/>
              </a:lnSpc>
              <a:buFont typeface="Arial MT"/>
              <a:buChar char="●"/>
              <a:tabLst>
                <a:tab pos="469265" algn="l"/>
              </a:tabLst>
            </a:pPr>
            <a:endParaRPr sz="1500" b="0" u="none" spc="-10" dirty="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r>
              <a:rPr dirty="0">
                <a:uFill>
                  <a:solidFill>
                    <a:srgbClr val="202729"/>
                  </a:solidFill>
                </a:uFill>
                <a:sym typeface="+mn-ea"/>
              </a:rPr>
              <a:t>Phase</a:t>
            </a:r>
            <a:r>
              <a:rPr spc="-20" dirty="0">
                <a:uFill>
                  <a:solidFill>
                    <a:srgbClr val="202729"/>
                  </a:solidFill>
                </a:uFill>
                <a:sym typeface="+mn-ea"/>
              </a:rPr>
              <a:t> </a:t>
            </a:r>
            <a:r>
              <a:rPr spc="-95" dirty="0">
                <a:uFill>
                  <a:solidFill>
                    <a:srgbClr val="202729"/>
                  </a:solidFill>
                </a:uFill>
                <a:sym typeface="+mn-ea"/>
              </a:rPr>
              <a:t>3:</a:t>
            </a:r>
            <a:r>
              <a:rPr spc="-15" dirty="0">
                <a:uFill>
                  <a:solidFill>
                    <a:srgbClr val="202729"/>
                  </a:solidFill>
                </a:uFill>
                <a:sym typeface="+mn-ea"/>
              </a:rPr>
              <a:t> </a:t>
            </a:r>
            <a:r>
              <a:rPr dirty="0">
                <a:uFill>
                  <a:solidFill>
                    <a:srgbClr val="202729"/>
                  </a:solidFill>
                </a:uFill>
                <a:sym typeface="+mn-ea"/>
              </a:rPr>
              <a:t>Setup</a:t>
            </a:r>
            <a:r>
              <a:rPr spc="-15" dirty="0">
                <a:uFill>
                  <a:solidFill>
                    <a:srgbClr val="202729"/>
                  </a:solidFill>
                </a:uFill>
                <a:sym typeface="+mn-ea"/>
              </a:rPr>
              <a:t> </a:t>
            </a:r>
            <a:r>
              <a:rPr dirty="0">
                <a:uFill>
                  <a:solidFill>
                    <a:srgbClr val="202729"/>
                  </a:solidFill>
                </a:uFill>
                <a:sym typeface="+mn-ea"/>
              </a:rPr>
              <a:t>AI</a:t>
            </a:r>
            <a:r>
              <a:rPr spc="-15" dirty="0">
                <a:uFill>
                  <a:solidFill>
                    <a:srgbClr val="202729"/>
                  </a:solidFill>
                </a:uFill>
                <a:sym typeface="+mn-ea"/>
              </a:rPr>
              <a:t> </a:t>
            </a:r>
            <a:r>
              <a:rPr dirty="0">
                <a:uFill>
                  <a:solidFill>
                    <a:srgbClr val="202729"/>
                  </a:solidFill>
                </a:uFill>
                <a:sym typeface="+mn-ea"/>
              </a:rPr>
              <a:t>Agent</a:t>
            </a:r>
            <a:r>
              <a:rPr spc="-15" dirty="0">
                <a:uFill>
                  <a:solidFill>
                    <a:srgbClr val="202729"/>
                  </a:solidFill>
                </a:uFill>
                <a:sym typeface="+mn-ea"/>
              </a:rPr>
              <a:t> </a:t>
            </a:r>
            <a:r>
              <a:rPr spc="-85" dirty="0">
                <a:uFill>
                  <a:solidFill>
                    <a:srgbClr val="202729"/>
                  </a:solidFill>
                </a:uFill>
                <a:sym typeface="+mn-ea"/>
              </a:rPr>
              <a:t>&amp;</a:t>
            </a:r>
            <a:r>
              <a:rPr spc="-15" dirty="0">
                <a:uFill>
                  <a:solidFill>
                    <a:srgbClr val="202729"/>
                  </a:solidFill>
                </a:uFill>
                <a:sym typeface="+mn-ea"/>
              </a:rPr>
              <a:t> </a:t>
            </a:r>
            <a:r>
              <a:rPr spc="-20" dirty="0">
                <a:uFill>
                  <a:solidFill>
                    <a:srgbClr val="202729"/>
                  </a:solidFill>
                </a:uFill>
                <a:sym typeface="+mn-ea"/>
              </a:rPr>
              <a:t>Tools</a:t>
            </a:r>
            <a:endParaRPr>
              <a:latin typeface="Trebuchet MS" panose="020B0603020202020204"/>
              <a:cs typeface="Trebuchet MS" panose="020B0603020202020204"/>
            </a:endParaRPr>
          </a:p>
          <a:p>
            <a:pPr marL="285750" indent="-285750">
              <a:lnSpc>
                <a:spcPts val="1885"/>
              </a:lnSpc>
              <a:spcBef>
                <a:spcPts val="1130"/>
              </a:spcBef>
              <a:buFont typeface="Wingdings" panose="05000000000000000000" charset="0"/>
              <a:buChar char="v"/>
              <a:tabLst>
                <a:tab pos="469265" algn="l"/>
              </a:tabLst>
            </a:pPr>
            <a:r>
              <a:rPr sz="1500" b="0" u="none" dirty="0">
                <a:sym typeface="+mn-ea"/>
              </a:rPr>
              <a:t>Setup</a:t>
            </a:r>
            <a:r>
              <a:rPr sz="1500" b="0" u="none" spc="-50" dirty="0">
                <a:sym typeface="+mn-ea"/>
              </a:rPr>
              <a:t> </a:t>
            </a:r>
            <a:r>
              <a:rPr sz="1500" b="0" u="none" dirty="0">
                <a:sym typeface="+mn-ea"/>
              </a:rPr>
              <a:t>Ollama</a:t>
            </a:r>
            <a:r>
              <a:rPr sz="1500" b="0" u="none" spc="-50" dirty="0">
                <a:sym typeface="+mn-ea"/>
              </a:rPr>
              <a:t> </a:t>
            </a:r>
            <a:r>
              <a:rPr sz="1500" b="0" u="none" spc="-70" dirty="0">
                <a:sym typeface="+mn-ea"/>
              </a:rPr>
              <a:t>with</a:t>
            </a:r>
            <a:r>
              <a:rPr sz="1500" b="0" u="none" spc="-50" dirty="0">
                <a:sym typeface="+mn-ea"/>
              </a:rPr>
              <a:t> </a:t>
            </a:r>
            <a:r>
              <a:rPr sz="1500" b="0" u="none" spc="50" dirty="0">
                <a:sym typeface="+mn-ea"/>
              </a:rPr>
              <a:t>Medgemma</a:t>
            </a:r>
            <a:r>
              <a:rPr sz="1500" b="0" u="none" spc="-50" dirty="0">
                <a:sym typeface="+mn-ea"/>
              </a:rPr>
              <a:t> </a:t>
            </a:r>
            <a:r>
              <a:rPr sz="1500" b="0" u="none" spc="-20" dirty="0">
                <a:sym typeface="+mn-ea"/>
              </a:rPr>
              <a:t>tool</a:t>
            </a:r>
            <a:endParaRPr sz="1500" b="0" u="none">
              <a:latin typeface="Trebuchet MS" panose="020B0603020202020204"/>
              <a:cs typeface="Trebuchet MS" panose="020B0603020202020204"/>
            </a:endParaRPr>
          </a:p>
          <a:p>
            <a:pPr marL="285750" indent="-285750">
              <a:lnSpc>
                <a:spcPts val="1845"/>
              </a:lnSpc>
              <a:buFont typeface="Wingdings" panose="05000000000000000000" charset="0"/>
              <a:buChar char="v"/>
              <a:tabLst>
                <a:tab pos="469265" algn="l"/>
              </a:tabLst>
            </a:pPr>
            <a:r>
              <a:rPr sz="1500" b="0" u="none" dirty="0">
                <a:sym typeface="+mn-ea"/>
              </a:rPr>
              <a:t>Setup</a:t>
            </a:r>
            <a:r>
              <a:rPr sz="1500" b="0" u="none" spc="-5" dirty="0">
                <a:sym typeface="+mn-ea"/>
              </a:rPr>
              <a:t> </a:t>
            </a:r>
            <a:r>
              <a:rPr sz="1500" b="0" u="none" spc="-65" dirty="0">
                <a:sym typeface="+mn-ea"/>
              </a:rPr>
              <a:t>Twilio</a:t>
            </a:r>
            <a:r>
              <a:rPr sz="1500" b="0" u="none" spc="-5" dirty="0">
                <a:sym typeface="+mn-ea"/>
              </a:rPr>
              <a:t> </a:t>
            </a:r>
            <a:r>
              <a:rPr sz="1500" b="0" u="none" spc="-20" dirty="0">
                <a:sym typeface="+mn-ea"/>
              </a:rPr>
              <a:t>calling</a:t>
            </a:r>
            <a:r>
              <a:rPr sz="1500" b="0" u="none" spc="-5" dirty="0">
                <a:sym typeface="+mn-ea"/>
              </a:rPr>
              <a:t> </a:t>
            </a:r>
            <a:r>
              <a:rPr sz="1500" b="0" u="none" dirty="0">
                <a:sym typeface="+mn-ea"/>
              </a:rPr>
              <a:t>API</a:t>
            </a:r>
            <a:r>
              <a:rPr sz="1500" b="0" u="none" spc="-5" dirty="0">
                <a:sym typeface="+mn-ea"/>
              </a:rPr>
              <a:t> </a:t>
            </a:r>
            <a:r>
              <a:rPr sz="1500" b="0" u="none" spc="-20" dirty="0">
                <a:sym typeface="+mn-ea"/>
              </a:rPr>
              <a:t>tool</a:t>
            </a:r>
            <a:endParaRPr sz="1500" b="0" u="none">
              <a:latin typeface="Trebuchet MS" panose="020B0603020202020204"/>
              <a:cs typeface="Trebuchet MS" panose="020B0603020202020204"/>
            </a:endParaRPr>
          </a:p>
          <a:p>
            <a:pPr marL="285750" indent="-285750">
              <a:lnSpc>
                <a:spcPts val="1845"/>
              </a:lnSpc>
              <a:buFont typeface="Wingdings" panose="05000000000000000000" charset="0"/>
              <a:buChar char="v"/>
              <a:tabLst>
                <a:tab pos="469265" algn="l"/>
              </a:tabLst>
            </a:pPr>
            <a:r>
              <a:rPr sz="1500" b="0" u="none" dirty="0">
                <a:sym typeface="+mn-ea"/>
              </a:rPr>
              <a:t>Setup</a:t>
            </a:r>
            <a:r>
              <a:rPr sz="1500" b="0" u="none" spc="-15" dirty="0">
                <a:sym typeface="+mn-ea"/>
              </a:rPr>
              <a:t> </a:t>
            </a:r>
            <a:r>
              <a:rPr sz="1500" b="0" u="none" spc="-20" dirty="0">
                <a:sym typeface="+mn-ea"/>
              </a:rPr>
              <a:t>Location</a:t>
            </a:r>
            <a:r>
              <a:rPr sz="1500" b="0" u="none" spc="-10" dirty="0">
                <a:sym typeface="+mn-ea"/>
              </a:rPr>
              <a:t> </a:t>
            </a:r>
            <a:r>
              <a:rPr sz="1500" b="0" u="none" spc="-20" dirty="0">
                <a:sym typeface="+mn-ea"/>
              </a:rPr>
              <a:t>tool</a:t>
            </a:r>
            <a:endParaRPr sz="1500" b="0" u="none">
              <a:latin typeface="Trebuchet MS" panose="020B0603020202020204"/>
              <a:cs typeface="Trebuchet MS" panose="020B0603020202020204"/>
            </a:endParaRPr>
          </a:p>
          <a:p>
            <a:pPr marL="285750" indent="-285750">
              <a:lnSpc>
                <a:spcPts val="1885"/>
              </a:lnSpc>
              <a:buFont typeface="Wingdings" panose="05000000000000000000" charset="0"/>
              <a:buChar char="v"/>
              <a:tabLst>
                <a:tab pos="469265" algn="l"/>
              </a:tabLst>
            </a:pPr>
            <a:r>
              <a:rPr sz="1500" b="0" u="none" dirty="0">
                <a:sym typeface="+mn-ea"/>
              </a:rPr>
              <a:t>Create</a:t>
            </a:r>
            <a:r>
              <a:rPr sz="1500" b="0" u="none" spc="-50" dirty="0">
                <a:sym typeface="+mn-ea"/>
              </a:rPr>
              <a:t> </a:t>
            </a:r>
            <a:r>
              <a:rPr sz="1500" b="0" u="none" dirty="0">
                <a:sym typeface="+mn-ea"/>
              </a:rPr>
              <a:t>an</a:t>
            </a:r>
            <a:r>
              <a:rPr sz="1500" b="0" u="none" spc="-50" dirty="0">
                <a:sym typeface="+mn-ea"/>
              </a:rPr>
              <a:t> </a:t>
            </a:r>
            <a:r>
              <a:rPr sz="1500" b="0" u="none" dirty="0">
                <a:sym typeface="+mn-ea"/>
              </a:rPr>
              <a:t>AI</a:t>
            </a:r>
            <a:r>
              <a:rPr sz="1500" b="0" u="none" spc="-50" dirty="0">
                <a:sym typeface="+mn-ea"/>
              </a:rPr>
              <a:t> </a:t>
            </a:r>
            <a:r>
              <a:rPr sz="1500" b="0" u="none" dirty="0">
                <a:sym typeface="+mn-ea"/>
              </a:rPr>
              <a:t>Agent</a:t>
            </a:r>
            <a:r>
              <a:rPr sz="1500" b="0" u="none" spc="-50" dirty="0">
                <a:sym typeface="+mn-ea"/>
              </a:rPr>
              <a:t> </a:t>
            </a:r>
            <a:r>
              <a:rPr sz="1500" b="0" u="none" spc="-90" dirty="0">
                <a:sym typeface="+mn-ea"/>
              </a:rPr>
              <a:t>&amp;</a:t>
            </a:r>
            <a:r>
              <a:rPr sz="1500" b="0" u="none" spc="-50" dirty="0">
                <a:sym typeface="+mn-ea"/>
              </a:rPr>
              <a:t> </a:t>
            </a:r>
            <a:r>
              <a:rPr sz="1500" b="0" u="none" spc="-10" dirty="0">
                <a:sym typeface="+mn-ea"/>
              </a:rPr>
              <a:t>Link</a:t>
            </a:r>
            <a:r>
              <a:rPr sz="1500" b="0" u="none" spc="-45" dirty="0">
                <a:sym typeface="+mn-ea"/>
              </a:rPr>
              <a:t> </a:t>
            </a:r>
            <a:r>
              <a:rPr sz="1500" b="0" u="none" spc="-50" dirty="0">
                <a:sym typeface="+mn-ea"/>
              </a:rPr>
              <a:t>to </a:t>
            </a:r>
            <a:r>
              <a:rPr sz="1500" b="0" u="none" spc="-10" dirty="0">
                <a:sym typeface="+mn-ea"/>
              </a:rPr>
              <a:t>backend</a:t>
            </a:r>
            <a:endParaRPr sz="1500" b="0" u="none">
              <a:latin typeface="Trebuchet MS" panose="020B0603020202020204"/>
              <a:cs typeface="Trebuchet MS" panose="020B0603020202020204"/>
            </a:endParaRPr>
          </a:p>
          <a:p>
            <a:pPr marL="403860" indent="-285750">
              <a:lnSpc>
                <a:spcPts val="1785"/>
              </a:lnSpc>
              <a:buFont typeface="Arial" panose="020B0604020202020204" pitchFamily="34" charset="0"/>
              <a:buChar char="•"/>
              <a:tabLst>
                <a:tab pos="469265" algn="l"/>
              </a:tabLst>
            </a:pPr>
            <a:endParaRPr sz="1500" b="0" u="none" spc="-1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0" y="596900"/>
            <a:ext cx="4633595" cy="387477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lang="en-US" altLang="en-US" sz="1600" b="1" u="sng">
                <a:latin typeface="Trebuchet MS" panose="020B0603020202020204"/>
                <a:cs typeface="Trebuchet MS" panose="020B0603020202020204"/>
              </a:rPr>
              <a:t>Phase 4: Configure WhatsApp &amp; Twilio</a:t>
            </a:r>
            <a:endParaRPr lang="en-US" altLang="en-US" sz="1600">
              <a:latin typeface="Trebuchet MS" panose="020B0603020202020204"/>
              <a:cs typeface="Trebuchet MS" panose="020B0603020202020204"/>
            </a:endParaRPr>
          </a:p>
          <a:p>
            <a:pPr marL="298450" indent="-285750">
              <a:lnSpc>
                <a:spcPct val="80000"/>
              </a:lnSpc>
              <a:spcBef>
                <a:spcPts val="1125"/>
              </a:spcBef>
              <a:buFont typeface="Wingdings" panose="05000000000000000000" charset="0"/>
              <a:buChar char="Ø"/>
            </a:pPr>
            <a:r>
              <a:rPr lang="en-US" altLang="en-US" sz="1500">
                <a:latin typeface="Trebuchet MS" panose="020B0603020202020204"/>
                <a:cs typeface="Trebuchet MS" panose="020B0603020202020204"/>
              </a:rPr>
              <a:t>Setup Twilio Sandbox</a:t>
            </a:r>
            <a:endParaRPr lang="en-US" altLang="en-US" sz="1500">
              <a:latin typeface="Trebuchet MS" panose="020B0603020202020204"/>
              <a:cs typeface="Trebuchet MS" panose="020B0603020202020204"/>
            </a:endParaRPr>
          </a:p>
          <a:p>
            <a:pPr marL="298450" indent="-285750">
              <a:lnSpc>
                <a:spcPct val="80000"/>
              </a:lnSpc>
              <a:spcBef>
                <a:spcPts val="1125"/>
              </a:spcBef>
              <a:buFont typeface="Wingdings" panose="05000000000000000000" charset="0"/>
              <a:buChar char="Ø"/>
            </a:pPr>
            <a:r>
              <a:rPr lang="en-US" altLang="en-US" sz="1500">
                <a:latin typeface="Trebuchet MS" panose="020B0603020202020204"/>
                <a:cs typeface="Trebuchet MS" panose="020B0603020202020204"/>
              </a:rPr>
              <a:t>Setup laptop server using NGROK</a:t>
            </a:r>
            <a:endParaRPr lang="en-US" altLang="en-US" sz="1500">
              <a:latin typeface="Trebuchet MS" panose="020B0603020202020204"/>
              <a:cs typeface="Trebuchet MS" panose="020B0603020202020204"/>
            </a:endParaRPr>
          </a:p>
          <a:p>
            <a:pPr marL="298450" indent="-285750">
              <a:lnSpc>
                <a:spcPct val="80000"/>
              </a:lnSpc>
              <a:spcBef>
                <a:spcPts val="1125"/>
              </a:spcBef>
              <a:buFont typeface="Wingdings" panose="05000000000000000000" charset="0"/>
              <a:buChar char="Ø"/>
            </a:pPr>
            <a:r>
              <a:rPr lang="en-US" altLang="en-US" sz="1500">
                <a:latin typeface="Trebuchet MS" panose="020B0603020202020204"/>
                <a:cs typeface="Trebuchet MS" panose="020B0603020202020204"/>
              </a:rPr>
              <a:t>Connect Twilio &amp; WhatsApp</a:t>
            </a:r>
            <a:endParaRPr lang="en-US" altLang="en-US" sz="1500">
              <a:latin typeface="Trebuchet MS" panose="020B0603020202020204"/>
              <a:cs typeface="Trebuchet MS" panose="020B0603020202020204"/>
            </a:endParaRPr>
          </a:p>
          <a:p>
            <a:pPr marL="298450" indent="-285750">
              <a:lnSpc>
                <a:spcPct val="80000"/>
              </a:lnSpc>
              <a:spcBef>
                <a:spcPts val="1125"/>
              </a:spcBef>
              <a:buFont typeface="Wingdings" panose="05000000000000000000" charset="0"/>
              <a:buChar char="Ø"/>
            </a:pPr>
            <a:r>
              <a:rPr lang="en-US" altLang="en-US" sz="1500">
                <a:latin typeface="Trebuchet MS" panose="020B0603020202020204"/>
                <a:cs typeface="Trebuchet MS" panose="020B0603020202020204"/>
              </a:rPr>
              <a:t>Validate WhatsApp → Backend → Response loop</a:t>
            </a:r>
            <a:endParaRPr lang="en-US" altLang="en-US" sz="1500">
              <a:latin typeface="Trebuchet MS" panose="020B0603020202020204"/>
              <a:cs typeface="Trebuchet MS" panose="020B0603020202020204"/>
            </a:endParaRPr>
          </a:p>
          <a:p>
            <a:pPr marL="298450" indent="-285750">
              <a:lnSpc>
                <a:spcPct val="100000"/>
              </a:lnSpc>
              <a:spcBef>
                <a:spcPts val="1125"/>
              </a:spcBef>
              <a:buFont typeface="Wingdings" panose="05000000000000000000" charset="0"/>
              <a:buChar char="Ø"/>
            </a:pPr>
            <a:endParaRPr lang="en-US" altLang="en-US" sz="1500">
              <a:latin typeface="Trebuchet MS" panose="020B0603020202020204"/>
              <a:cs typeface="Trebuchet MS" panose="020B0603020202020204"/>
            </a:endParaRPr>
          </a:p>
          <a:p>
            <a:pPr marL="12700" indent="0">
              <a:lnSpc>
                <a:spcPct val="100000"/>
              </a:lnSpc>
              <a:spcBef>
                <a:spcPts val="1125"/>
              </a:spcBef>
              <a:buFont typeface="Wingdings" panose="05000000000000000000" charset="0"/>
              <a:buNone/>
            </a:pPr>
            <a:r>
              <a:rPr lang="en-US" altLang="en-US" sz="1500" b="1" u="sng">
                <a:latin typeface="Trebuchet MS" panose="020B0603020202020204"/>
                <a:cs typeface="Trebuchet MS" panose="020B0603020202020204"/>
              </a:rPr>
              <a:t>Phase 5: Test Everything Together</a:t>
            </a:r>
            <a:endParaRPr lang="en-US" altLang="en-US" sz="1500">
              <a:latin typeface="Trebuchet MS" panose="020B0603020202020204"/>
              <a:cs typeface="Trebuchet MS" panose="020B0603020202020204"/>
            </a:endParaRPr>
          </a:p>
          <a:p>
            <a:pPr marL="298450" indent="-285750">
              <a:lnSpc>
                <a:spcPct val="90000"/>
              </a:lnSpc>
              <a:spcBef>
                <a:spcPts val="1125"/>
              </a:spcBef>
              <a:buFont typeface="Wingdings" panose="05000000000000000000" charset="0"/>
              <a:buChar char="ü"/>
            </a:pPr>
            <a:r>
              <a:rPr lang="en-US" altLang="en-US" sz="1500">
                <a:latin typeface="Trebuchet MS" panose="020B0603020202020204"/>
                <a:cs typeface="Trebuchet MS" panose="020B0603020202020204"/>
              </a:rPr>
              <a:t>Full flow testing</a:t>
            </a:r>
            <a:endParaRPr lang="en-US" altLang="en-US" sz="1500">
              <a:latin typeface="Trebuchet MS" panose="020B0603020202020204"/>
              <a:cs typeface="Trebuchet MS" panose="020B0603020202020204"/>
            </a:endParaRPr>
          </a:p>
          <a:p>
            <a:pPr marL="298450" indent="-285750">
              <a:lnSpc>
                <a:spcPct val="90000"/>
              </a:lnSpc>
              <a:spcBef>
                <a:spcPts val="1125"/>
              </a:spcBef>
              <a:buFont typeface="Wingdings" panose="05000000000000000000" charset="0"/>
              <a:buChar char="ü"/>
            </a:pPr>
            <a:r>
              <a:rPr lang="en-US" altLang="en-US" sz="1500">
                <a:latin typeface="Trebuchet MS" panose="020B0603020202020204"/>
                <a:cs typeface="Trebuchet MS" panose="020B0603020202020204"/>
              </a:rPr>
              <a:t>Crisis detection → emergency call</a:t>
            </a:r>
            <a:endParaRPr lang="en-US" altLang="en-US" sz="1500">
              <a:latin typeface="Trebuchet MS" panose="020B0603020202020204"/>
              <a:cs typeface="Trebuchet MS" panose="020B0603020202020204"/>
            </a:endParaRPr>
          </a:p>
          <a:p>
            <a:pPr marL="298450" indent="-285750">
              <a:lnSpc>
                <a:spcPct val="90000"/>
              </a:lnSpc>
              <a:spcBef>
                <a:spcPts val="1125"/>
              </a:spcBef>
              <a:buFont typeface="Wingdings" panose="05000000000000000000" charset="0"/>
              <a:buChar char="ü"/>
            </a:pPr>
            <a:r>
              <a:rPr lang="en-US" altLang="en-US" sz="1500">
                <a:latin typeface="Trebuchet MS" panose="020B0603020202020204"/>
                <a:cs typeface="Trebuchet MS" panose="020B0603020202020204"/>
              </a:rPr>
              <a:t>Location search → therapist finder</a:t>
            </a:r>
            <a:endParaRPr lang="en-US" altLang="en-US" sz="1500">
              <a:latin typeface="Trebuchet MS" panose="020B0603020202020204"/>
              <a:cs typeface="Trebuchet MS" panose="020B0603020202020204"/>
            </a:endParaRPr>
          </a:p>
          <a:p>
            <a:pPr marL="298450" indent="-285750">
              <a:lnSpc>
                <a:spcPct val="90000"/>
              </a:lnSpc>
              <a:spcBef>
                <a:spcPts val="1125"/>
              </a:spcBef>
              <a:buFont typeface="Wingdings" panose="05000000000000000000" charset="0"/>
              <a:buChar char="ü"/>
            </a:pPr>
            <a:r>
              <a:rPr lang="en-US" altLang="en-US" sz="1500">
                <a:latin typeface="Trebuchet MS" panose="020B0603020202020204"/>
                <a:cs typeface="Trebuchet MS" panose="020B0603020202020204"/>
              </a:rPr>
              <a:t>WhatsApp + Web UI both working</a:t>
            </a:r>
            <a:endParaRPr lang="en-US" altLang="en-US" sz="15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7" name="Content Placeholder 6" descr="Screenshot 2025-11-23 20193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28600" y="1123950"/>
            <a:ext cx="4482465" cy="2931795"/>
          </a:xfrm>
          <a:prstGeom prst="rect">
            <a:avLst/>
          </a:prstGeom>
        </p:spPr>
      </p:pic>
      <p:pic>
        <p:nvPicPr>
          <p:cNvPr id="8" name="Content Placeholder 7" descr="Screenshot 2025-11-23 201909"/>
          <p:cNvPicPr>
            <a:picLocks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4996815" y="1123950"/>
            <a:ext cx="3978275" cy="2932430"/>
          </a:xfrm>
          <a:prstGeom prst="rect">
            <a:avLst/>
          </a:prstGeom>
        </p:spPr>
      </p:pic>
      <p:sp>
        <p:nvSpPr>
          <p:cNvPr id="9" name="object 2"/>
          <p:cNvSpPr txBox="1">
            <a:spLocks noGrp="1"/>
          </p:cNvSpPr>
          <p:nvPr/>
        </p:nvSpPr>
        <p:spPr>
          <a:xfrm>
            <a:off x="304800" y="285750"/>
            <a:ext cx="3673475" cy="375920"/>
          </a:xfrm>
          <a:prstGeom prst="rect">
            <a:avLst/>
          </a:prstGeom>
          <a:solidFill>
            <a:srgbClr val="63D197"/>
          </a:solidFill>
        </p:spPr>
        <p:txBody>
          <a:bodyPr vert="horz" wrap="square" lIns="0" tIns="0" rIns="0" bIns="0" rtlCol="0">
            <a:spAutoFit/>
          </a:bodyPr>
          <a:lstStyle>
            <a:lvl1pPr>
              <a:defRPr sz="5050" b="1" i="0">
                <a:solidFill>
                  <a:schemeClr val="bg1"/>
                </a:solidFill>
                <a:latin typeface="Trebuchet MS" panose="020B0603020202020204"/>
                <a:ea typeface="+mj-ea"/>
                <a:cs typeface="Trebuchet MS" panose="020B0603020202020204"/>
              </a:defRPr>
            </a:lvl1pPr>
          </a:lstStyle>
          <a:p>
            <a:pPr>
              <a:lnSpc>
                <a:spcPts val="2935"/>
              </a:lnSpc>
            </a:pPr>
            <a:r>
              <a:rPr lang="en-US" sz="2500" spc="-10" dirty="0">
                <a:solidFill>
                  <a:srgbClr val="202729"/>
                </a:solidFill>
                <a:latin typeface="Arial" panose="020B0604020202020204"/>
                <a:cs typeface="Arial" panose="020B0604020202020204"/>
              </a:rPr>
              <a:t>Front-End Displays :  </a:t>
            </a:r>
            <a:endParaRPr lang="en-US" sz="2500" spc="-10" dirty="0">
              <a:solidFill>
                <a:srgbClr val="20272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84530" y="4301490"/>
            <a:ext cx="2744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u="sng"/>
              <a:t>1. Streamlit </a:t>
            </a:r>
            <a:endParaRPr lang="en-US" b="1" u="sng"/>
          </a:p>
        </p:txBody>
      </p:sp>
      <p:sp>
        <p:nvSpPr>
          <p:cNvPr id="11" name="Text Box 10"/>
          <p:cNvSpPr txBox="1"/>
          <p:nvPr/>
        </p:nvSpPr>
        <p:spPr>
          <a:xfrm>
            <a:off x="5403215" y="427228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u="sng"/>
              <a:t>2. Whatsapp </a:t>
            </a:r>
            <a:endParaRPr lang="en-US" b="1" u="sn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2097</Words>
  <Application>WPS Presentation</Application>
  <PresentationFormat>On-screen Show (4:3)</PresentationFormat>
  <Paragraphs>97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Trebuchet MS</vt:lpstr>
      <vt:lpstr>Arial MT</vt:lpstr>
      <vt:lpstr>Tahoma</vt:lpstr>
      <vt:lpstr>Tahoma</vt:lpstr>
      <vt:lpstr>Wingdings</vt:lpstr>
      <vt:lpstr>Arial</vt:lpstr>
      <vt:lpstr>Microsoft YaHei</vt:lpstr>
      <vt:lpstr>Arial Unicode MS</vt:lpstr>
      <vt:lpstr>Calibri</vt:lpstr>
      <vt:lpstr>Trebuchet MS</vt:lpstr>
      <vt:lpstr>Office Theme</vt:lpstr>
      <vt:lpstr>By Abdullah Imran</vt:lpstr>
      <vt:lpstr>Overview - What TherapyX AI Do?</vt:lpstr>
      <vt:lpstr>Topics Covered</vt:lpstr>
      <vt:lpstr>First Stage Architecture  </vt:lpstr>
      <vt:lpstr>Final Technical Architecture </vt:lpstr>
      <vt:lpstr>Code Setup</vt:lpstr>
      <vt:lpstr>First Stage Architecture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Mental Health TherapistWith Google MedGemma LLM</dc:title>
  <dc:creator/>
  <cp:lastModifiedBy>butta</cp:lastModifiedBy>
  <cp:revision>4</cp:revision>
  <dcterms:created xsi:type="dcterms:W3CDTF">2025-11-23T06:31:00Z</dcterms:created>
  <dcterms:modified xsi:type="dcterms:W3CDTF">2025-11-23T15:32:51Z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2025-08-01T15:00:00Z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2025-08-01T15:00:00Z</vt:filetime>
  </property>
  <property fmtid="{D5CDD505-2E9C-101B-9397-08002B2CF9AE}" pid="6" name="ICV">
    <vt:lpwstr>9D1A11D3CC7B4344A3FA978C1E58AC2F_12</vt:lpwstr>
  </property>
  <property fmtid="{D5CDD505-2E9C-101B-9397-08002B2CF9AE}" pid="7" name="KSOProductBuildVer">
    <vt:lpwstr>1033-12.2.0.23155</vt:lpwstr>
  </property>
</Properties>
</file>